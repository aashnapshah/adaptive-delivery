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0"/>
            <a:ext cx="10637215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500" b="1" i="0">
                <a:solidFill>
                  <a:srgbClr val="4E6E8E"/>
                </a:solidFill>
                <a:latin typeface="Avenir Next"/>
              </a:rPr>
              <a:t>PROGRESS REPORT · 2026-07-07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4600" b="1" i="0">
                <a:solidFill>
                  <a:srgbClr val="1A1A1A"/>
                </a:solidFill>
                <a:latin typeface="Avenir Next"/>
              </a:rPr>
              <a:t>Adaptive Delivery of LLM-Generated Diagnostic Test Recommendations</a:t>
            </a:r>
          </a:p>
          <a:p>
            <a:pPr>
              <a:spcAft>
                <a:spcPts val="0"/>
              </a:spcAft>
            </a:pPr>
            <a:r>
              <a:rPr sz="2000" b="0" i="0">
                <a:solidFill>
                  <a:srgbClr val="69757F"/>
                </a:solidFill>
                <a:latin typeface="Avenir Next"/>
              </a:rPr>
              <a:t>Aashna Shah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27648"/>
            <a:ext cx="10088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69757F"/>
                </a:solidFill>
                <a:latin typeface="Avenir Next"/>
              </a:rPr>
              <a:t>Reproducing &amp; extending Nori et al. (2025) — SDBench + MAI-DxO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0"/>
            <a:ext cx="10637215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69757F"/>
                </a:solidFill>
                <a:latin typeface="Avenir Next"/>
              </a:rPr>
              <a:t>PART 1</a:t>
            </a:r>
          </a:p>
          <a:p>
            <a:pPr>
              <a:spcAft>
                <a:spcPts val="1800"/>
              </a:spcAft>
            </a:pPr>
            <a:r>
              <a:rPr sz="5000" b="1" i="0">
                <a:solidFill>
                  <a:srgbClr val="1A1A1A"/>
                </a:solidFill>
                <a:latin typeface="Avenir Next"/>
              </a:rPr>
              <a:t>Introduction</a:t>
            </a:r>
          </a:p>
          <a:p>
            <a:pPr>
              <a:spcAft>
                <a:spcPts val="0"/>
              </a:spcAft>
            </a:pPr>
            <a:r>
              <a:rPr sz="1700" b="0" i="0">
                <a:solidFill>
                  <a:srgbClr val="69757F"/>
                </a:solidFill>
                <a:latin typeface="Avenir Next"/>
              </a:rPr>
              <a:t>Why delivery, not diagnosis  ·  prior work &amp; its gaps  ·  the research question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§1.1 ·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The constraint is delivery, not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637215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0" i="0">
                <a:solidFill>
                  <a:srgbClr val="28323B"/>
                </a:solidFill>
                <a:latin typeface="Avenir Next"/>
              </a:rPr>
              <a:t>Reasoning LLMs now </a:t>
            </a:r>
            <a:r>
              <a:rPr sz="2000" b="1" i="0">
                <a:solidFill>
                  <a:srgbClr val="1A1A1A"/>
                </a:solidFill>
                <a:latin typeface="Avenir Next"/>
              </a:rPr>
              <a:t>match or exceed physicians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on diagnostic tasks (Brodeur '26, Kanjee '23, Nori '25)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Goh 2024 (RCT):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the model alone beat physicians — yet physicians </a:t>
            </a:r>
            <a:r>
              <a:rPr sz="2000" b="0" i="1">
                <a:solidFill>
                  <a:srgbClr val="28323B"/>
                </a:solidFill>
                <a:latin typeface="Avenir Next"/>
              </a:rPr>
              <a:t>given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the model did not improve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0" i="0">
                <a:solidFill>
                  <a:srgbClr val="28323B"/>
                </a:solidFill>
                <a:latin typeface="Avenir Next"/>
              </a:rPr>
              <a:t>The capability was available and went </a:t>
            </a:r>
            <a:r>
              <a:rPr sz="2000" b="1" i="0">
                <a:solidFill>
                  <a:srgbClr val="1A1A1A"/>
                </a:solidFill>
                <a:latin typeface="Avenir Next"/>
              </a:rPr>
              <a:t>unused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0" i="0">
                <a:solidFill>
                  <a:srgbClr val="28323B"/>
                </a:solidFill>
                <a:latin typeface="Avenir Next"/>
              </a:rPr>
              <a:t>Indiscriminate, interruptive alerts → </a:t>
            </a:r>
            <a:r>
              <a:rPr sz="2000" b="1" i="0">
                <a:solidFill>
                  <a:srgbClr val="1A1A1A"/>
                </a:solidFill>
                <a:latin typeface="Avenir Next"/>
              </a:rPr>
              <a:t>alert fatigue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→ overrides (AHRQ, Baron, Park)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§1.2 · PRIOR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Nori et al. (2025): SDBench + MAI-DxO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637215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SDBench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turns 304 NEJM CPC cases into interactive sequential encounters — ask, order, or diagnose through a gatekeeper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MAI-DxO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: an orchestrator that role-plays a panel of five physician personas in one model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0" i="0">
                <a:solidFill>
                  <a:srgbClr val="28323B"/>
                </a:solidFill>
                <a:latin typeface="Avenir Next"/>
              </a:rPr>
              <a:t>On o3: </a:t>
            </a:r>
            <a:r>
              <a:rPr sz="2000" b="1" i="0">
                <a:solidFill>
                  <a:srgbClr val="1A1A1A"/>
                </a:solidFill>
                <a:latin typeface="Avenir Next"/>
              </a:rPr>
              <a:t>~80% accuracy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vs. ~20% for generalist physicians, at lower cumulative test cost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0" i="0">
                <a:solidFill>
                  <a:srgbClr val="28323B"/>
                </a:solidFill>
                <a:latin typeface="Avenir Next"/>
              </a:rPr>
              <a:t>A strong foundation — but four gaps for the question of </a:t>
            </a:r>
            <a:r>
              <a:rPr sz="2000" b="0" i="1">
                <a:solidFill>
                  <a:srgbClr val="28323B"/>
                </a:solidFill>
                <a:latin typeface="Avenir Next"/>
              </a:rPr>
              <a:t>clinical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§1.2 · FOUR GAPS WE ADDRESS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From a diagnostic benchmark to clinical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637215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Ends at diagnosis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— models generation, not whether it is delivered or acted on → we add scoring, delivery, response &amp; evaluation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One regime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(rare CPC) → three regimes: CPC, MIMIC-IV (acute), Clalit (routine)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Triple Aim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omits clinician workload / experience → addressed via the delivery layer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Closed frontier model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→ open models &amp; public data throughout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§1.3 ·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Not just whether a recommendation is right — how it is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02714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900" b="0" i="0">
                <a:solidFill>
                  <a:srgbClr val="69757F"/>
                </a:solidFill>
                <a:latin typeface="Avenir Next"/>
              </a:rPr>
              <a:t>Can adaptive, context-aware delivery raise appropriate clinician uptake without adding alert burden?</a:t>
            </a:r>
          </a:p>
        </p:txBody>
      </p:sp>
      <p:pic>
        <p:nvPicPr>
          <p:cNvPr id="5" name="Picture 4" descr="schematic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17520"/>
            <a:ext cx="10637215" cy="2745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327648"/>
            <a:ext cx="10088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69757F"/>
                </a:solidFill>
                <a:latin typeface="Avenir Next"/>
              </a:rPr>
              <a:t>Stages 1, 2, 5 implemented &amp; evaluated here; the delivery loop (3–4) is the forward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0"/>
            <a:ext cx="10637215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69757F"/>
                </a:solidFill>
                <a:latin typeface="Avenir Next"/>
              </a:rPr>
              <a:t>PART 2</a:t>
            </a:r>
          </a:p>
          <a:p>
            <a:pPr>
              <a:spcAft>
                <a:spcPts val="1800"/>
              </a:spcAft>
            </a:pPr>
            <a:r>
              <a:rPr sz="5000" b="1" i="0">
                <a:solidFill>
                  <a:srgbClr val="1A1A1A"/>
                </a:solidFill>
                <a:latin typeface="Avenir Next"/>
              </a:rPr>
              <a:t>Methods</a:t>
            </a:r>
          </a:p>
          <a:p>
            <a:pPr>
              <a:spcAft>
                <a:spcPts val="0"/>
              </a:spcAft>
            </a:pPr>
            <a:r>
              <a:rPr sz="1700" b="0" i="0">
                <a:solidFill>
                  <a:srgbClr val="69757F"/>
                </a:solidFill>
                <a:latin typeface="Avenir Next"/>
              </a:rPr>
              <a:t>Environments · case presentation · gatekeeper · recommenders · judge ·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§2.1 · CLINICAL VIGNETTES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Three regimes where alerting behaves differently</a:t>
            </a:r>
          </a:p>
        </p:txBody>
      </p:sp>
      <p:pic>
        <p:nvPicPr>
          <p:cNvPr id="4" name="Picture 3" descr="table_environ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790" y="2194560"/>
            <a:ext cx="10056114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327648"/>
            <a:ext cx="10088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69757F"/>
                </a:solidFill>
                <a:latin typeface="Avenir Next"/>
              </a:rPr>
              <a:t>Matched in size so accuracy is comparable across regimes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§2.2 · CASE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Each case is worked step by step</a:t>
            </a:r>
          </a:p>
        </p:txBody>
      </p:sp>
      <p:pic>
        <p:nvPicPr>
          <p:cNvPr id="4" name="Picture 3" descr="example_transcr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447" y="2194560"/>
            <a:ext cx="478080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327648"/>
            <a:ext cx="10088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69757F"/>
                </a:solidFill>
                <a:latin typeface="Avenir Next"/>
              </a:rPr>
              <a:t>Abstract first; orders batched (≤3/turn); ≤8 turns; a diagnosis is forced if none is committed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§2.3 · THE GATEKEEPER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An oracle that reveals only what is asked</a:t>
            </a:r>
          </a:p>
        </p:txBody>
      </p:sp>
      <p:pic>
        <p:nvPicPr>
          <p:cNvPr id="4" name="Picture 3" descr="schematic_gatekee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221" y="2194560"/>
            <a:ext cx="9577251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327648"/>
            <a:ext cx="10088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69757F"/>
                </a:solidFill>
                <a:latin typeface="Avenir Next"/>
              </a:rPr>
              <a:t>Synthesize rather than refuse; never reveal the diagnosis — following Nori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§2.4 · RECOMMENDATION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Three designs, one ladder of orchestration</a:t>
            </a:r>
          </a:p>
        </p:txBody>
      </p:sp>
      <p:pic>
        <p:nvPicPr>
          <p:cNvPr id="4" name="Picture 3" descr="schematic_recommen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809" y="2194560"/>
            <a:ext cx="6704076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327648"/>
            <a:ext cx="10088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69757F"/>
                </a:solidFill>
                <a:latin typeface="Avenir Next"/>
              </a:rPr>
              <a:t>Same five roles throughout — only the orchestration changes, isolating its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§2.5 · THE 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Grading the committed diagnosis, 1–5</a:t>
            </a:r>
          </a:p>
        </p:txBody>
      </p:sp>
      <p:pic>
        <p:nvPicPr>
          <p:cNvPr id="4" name="Picture 3" descr="schematic_ju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650" y="2194560"/>
            <a:ext cx="8558394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327648"/>
            <a:ext cx="10088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69757F"/>
                </a:solidFill>
                <a:latin typeface="Avenir Next"/>
              </a:rPr>
              <a:t>The paper's rubric &amp; threshold, unchanged — a score of 4+ counts as 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§2.6 ·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What we measure — automatic vs. clinician-graded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637215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1800" b="1" i="0">
                <a:solidFill>
                  <a:srgbClr val="1A1A1A"/>
                </a:solidFill>
                <a:latin typeface="Avenir Next"/>
              </a:rPr>
              <a:t>Diagnostic quality:</a:t>
            </a:r>
            <a:r>
              <a:rPr sz="1800" b="0" i="0">
                <a:solidFill>
                  <a:srgbClr val="28323B"/>
                </a:solidFill>
                <a:latin typeface="Avenir Next"/>
              </a:rPr>
              <a:t> accuracy (share scored ≥4) + mean Judge score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1800" b="1" i="0">
                <a:solidFill>
                  <a:srgbClr val="1A1A1A"/>
                </a:solidFill>
                <a:latin typeface="Avenir Next"/>
              </a:rPr>
              <a:t>Cost &amp; effort:</a:t>
            </a:r>
            <a:r>
              <a:rPr sz="1800" b="0" i="0">
                <a:solidFill>
                  <a:srgbClr val="28323B"/>
                </a:solidFill>
                <a:latin typeface="Avenir Next"/>
              </a:rPr>
              <a:t> a $300 visit fee + a per-test price schedule; turns, tests, tokens, latency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1800" b="1" i="0">
                <a:solidFill>
                  <a:srgbClr val="1A1A1A"/>
                </a:solidFill>
                <a:latin typeface="Avenir Next"/>
              </a:rPr>
              <a:t>Ordering concordance</a:t>
            </a:r>
            <a:r>
              <a:rPr sz="1800" b="0" i="0">
                <a:solidFill>
                  <a:srgbClr val="28323B"/>
                </a:solidFill>
                <a:latin typeface="Avenir Next"/>
              </a:rPr>
              <a:t> (MIMIC / Clalit): recall &amp; precision vs. the labs actually measured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1800" b="1" i="0">
                <a:solidFill>
                  <a:srgbClr val="1A1A1A"/>
                </a:solidFill>
                <a:latin typeface="Avenir Next"/>
              </a:rPr>
              <a:t>Appropriateness &amp; harm:</a:t>
            </a:r>
            <a:r>
              <a:rPr sz="1800" b="0" i="0">
                <a:solidFill>
                  <a:srgbClr val="28323B"/>
                </a:solidFill>
                <a:latin typeface="Avenir Next"/>
              </a:rPr>
              <a:t> clinician-graded (NOHARM-style prototype scorer, kept hidden)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1800" b="1" i="0">
                <a:solidFill>
                  <a:srgbClr val="1A1A1A"/>
                </a:solidFill>
                <a:latin typeface="Avenir Next"/>
              </a:rPr>
              <a:t>Ablations &amp; a budget sweep</a:t>
            </a:r>
            <a:r>
              <a:rPr sz="1800" b="0" i="0">
                <a:solidFill>
                  <a:srgbClr val="28323B"/>
                </a:solidFill>
                <a:latin typeface="Avenir Next"/>
              </a:rPr>
              <a:t> probe the panel and how designs degrade under cost caps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0"/>
            <a:ext cx="10637215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69757F"/>
                </a:solidFill>
                <a:latin typeface="Avenir Next"/>
              </a:rPr>
              <a:t>PART 3</a:t>
            </a:r>
          </a:p>
          <a:p>
            <a:pPr>
              <a:spcAft>
                <a:spcPts val="1800"/>
              </a:spcAft>
            </a:pPr>
            <a:r>
              <a:rPr sz="5000" b="1" i="0">
                <a:solidFill>
                  <a:srgbClr val="1A1A1A"/>
                </a:solidFill>
                <a:latin typeface="Avenir Next"/>
              </a:rPr>
              <a:t>Results</a:t>
            </a:r>
          </a:p>
          <a:p>
            <a:pPr>
              <a:spcAft>
                <a:spcPts val="0"/>
              </a:spcAft>
            </a:pPr>
            <a:r>
              <a:rPr sz="1700" b="0" i="0">
                <a:solidFill>
                  <a:srgbClr val="69757F"/>
                </a:solidFill>
                <a:latin typeface="Avenir Next"/>
              </a:rPr>
              <a:t>Does more orchestration help? — the full 100-case CPC run on Llama-3.1-8B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B03A3A"/>
                </a:solidFill>
                <a:latin typeface="Avenir Next"/>
              </a:rPr>
              <a:t>§3 · KEY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More orchestration does not buy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3337560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400" b="1" i="0">
                <a:solidFill>
                  <a:srgbClr val="1A1A1A"/>
                </a:solidFill>
                <a:latin typeface="Avenir Next"/>
              </a:rPr>
              <a:t>23%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66160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69757F"/>
                </a:solidFill>
                <a:latin typeface="Avenir Next"/>
              </a:rPr>
              <a:t>Single LLM &amp; Roles prompt — indistinguishable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514600"/>
            <a:ext cx="3337560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400" b="1" i="0">
                <a:solidFill>
                  <a:srgbClr val="B03A3A"/>
                </a:solidFill>
                <a:latin typeface="Avenir Next"/>
              </a:rPr>
              <a:t>13%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3566160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69757F"/>
                </a:solidFill>
                <a:latin typeface="Avenir Next"/>
              </a:rPr>
              <a:t>Multi-agent panel — the weakest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514600"/>
            <a:ext cx="3337560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B03A3A"/>
                </a:solidFill>
                <a:latin typeface="Avenir Next"/>
              </a:rPr>
              <a:t>~1.9× / 4.3×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566160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69757F"/>
                </a:solidFill>
                <a:latin typeface="Avenir Next"/>
              </a:rPr>
              <a:t>the tokens / wall-clock time of a single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920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900" b="0" i="0">
                <a:solidFill>
                  <a:srgbClr val="69757F"/>
                </a:solidFill>
                <a:latin typeface="Avenir Next"/>
              </a:rPr>
              <a:t>Holding the five roles fixed, the single call and the roles prompt track each other exactly; the genuine multi-agent panel is lower </a:t>
            </a:r>
            <a:r>
              <a:rPr sz="1900" b="0" i="1">
                <a:solidFill>
                  <a:srgbClr val="69757F"/>
                </a:solidFill>
                <a:latin typeface="Avenir Next"/>
              </a:rPr>
              <a:t>and</a:t>
            </a:r>
            <a:r>
              <a:rPr sz="1900" b="0" i="0">
                <a:solidFill>
                  <a:srgbClr val="69757F"/>
                </a:solidFill>
                <a:latin typeface="Avenir Next"/>
              </a:rPr>
              <a:t> far more expensive.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10088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69757F"/>
                </a:solidFill>
                <a:latin typeface="Avenir Next"/>
              </a:rPr>
              <a:t>Llama-3.1-8B · full 100-case CPC run · 95% CIs ±8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§3.1 · ACCURACY VS.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The controlled ladder, side by side</a:t>
            </a:r>
          </a:p>
        </p:txBody>
      </p:sp>
      <p:pic>
        <p:nvPicPr>
          <p:cNvPr id="4" name="Picture 3" descr="result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791" y="2194560"/>
            <a:ext cx="5112111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327648"/>
            <a:ext cx="10088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69757F"/>
                </a:solidFill>
                <a:latin typeface="Avenir Next"/>
              </a:rPr>
              <a:t>Points nearer the upper-left are better; whiskers are 95% CIs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§3.2 · THE COST OF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Same accuracy question, very different compute</a:t>
            </a:r>
          </a:p>
        </p:txBody>
      </p:sp>
      <p:pic>
        <p:nvPicPr>
          <p:cNvPr id="4" name="Picture 3" descr="cpc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94560"/>
            <a:ext cx="10637215" cy="2193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327648"/>
            <a:ext cx="10088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69757F"/>
                </a:solidFill>
                <a:latin typeface="Avenir Next"/>
              </a:rPr>
              <a:t>The panel issues ~6 model calls per turn against one — ~1.9× tokens, ~4.3× wall-clock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§3.1 · WHY THE PANEL UNDERPERFORMS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It commits early instead of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637215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0" i="0">
                <a:solidFill>
                  <a:srgbClr val="28323B"/>
                </a:solidFill>
                <a:latin typeface="Avenir Next"/>
              </a:rPr>
              <a:t>The panel commits after </a:t>
            </a:r>
            <a:r>
              <a:rPr sz="2000" b="1" i="0">
                <a:solidFill>
                  <a:srgbClr val="1A1A1A"/>
                </a:solidFill>
                <a:latin typeface="Avenir Next"/>
              </a:rPr>
              <a:t>~6 turns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(not the full 8) and orders </a:t>
            </a:r>
            <a:r>
              <a:rPr sz="2000" b="1" i="0">
                <a:solidFill>
                  <a:srgbClr val="1A1A1A"/>
                </a:solidFill>
                <a:latin typeface="Avenir Next"/>
              </a:rPr>
              <a:t>~0.4 tests/case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(vs. ~6.5)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0" i="0">
                <a:solidFill>
                  <a:srgbClr val="28323B"/>
                </a:solidFill>
                <a:latin typeface="Avenir Next"/>
              </a:rPr>
              <a:t>On an 8B model the coordinator's structured output often fails to parse → it falls back and commits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Example (West Nile):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it had WNV-positive CSF in hand at turn 2 — but committed </a:t>
            </a:r>
            <a:r>
              <a:rPr sz="2000" b="0" i="1">
                <a:solidFill>
                  <a:srgbClr val="28323B"/>
                </a:solidFill>
                <a:latin typeface="Avenir Next"/>
              </a:rPr>
              <a:t>“undetermined”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(Judge 1/5)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0" i="0">
                <a:solidFill>
                  <a:srgbClr val="28323B"/>
                </a:solidFill>
                <a:latin typeface="Avenir Next"/>
              </a:rPr>
              <a:t>Its low dollar cost reflects </a:t>
            </a:r>
            <a:r>
              <a:rPr sz="2000" b="1" i="0">
                <a:solidFill>
                  <a:srgbClr val="1A1A1A"/>
                </a:solidFill>
                <a:latin typeface="Avenir Next"/>
              </a:rPr>
              <a:t>early commitment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, not efficient work-up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§3.3 · EVALUATION IN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Instrumented, not yet informative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637215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Panel ablation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(leave-one-persona-out): needs a capable model to separate personas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Budget sweep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(accuracy under cost ceilings): curves pending a capable model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Ordering concordance: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MIMIC-IV cohort built (98 cases); sweep in progress; Clalit pending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Appropriateness &amp; harm: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grading console built; awaits clinician grading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0"/>
            <a:ext cx="10637215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69757F"/>
                </a:solidFill>
                <a:latin typeface="Avenir Next"/>
              </a:rPr>
              <a:t>PART 4</a:t>
            </a:r>
          </a:p>
          <a:p>
            <a:pPr>
              <a:spcAft>
                <a:spcPts val="1800"/>
              </a:spcAft>
            </a:pPr>
            <a:r>
              <a:rPr sz="5000" b="1" i="0">
                <a:solidFill>
                  <a:srgbClr val="1A1A1A"/>
                </a:solidFill>
                <a:latin typeface="Avenir Next"/>
              </a:rPr>
              <a:t>Discussion &amp; next steps</a:t>
            </a:r>
          </a:p>
          <a:p>
            <a:pPr>
              <a:spcAft>
                <a:spcPts val="0"/>
              </a:spcAft>
            </a:pPr>
            <a:r>
              <a:rPr sz="1700" b="0" i="0">
                <a:solidFill>
                  <a:srgbClr val="69757F"/>
                </a:solidFill>
                <a:latin typeface="Avenir Next"/>
              </a:rPr>
              <a:t>Toward 80% · the adaptive delivery layer · timeline &amp; contributions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§4.1 · FINALIZING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Toward the benchmark's ~80%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637215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Finish the model sweep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— Qwen3-32B, 70B at full n, and hosted frontier models (GPT-5, Gemini-2.5-Pro, Claude-Sonnet-5)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De-noise the environment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— move Judge &amp; Gatekeeper onto a fixed, strong model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Sharpen cost &amp; coverage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— CPT-coded prices; load real MIMIC-IV and Clalit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Run the deferred evaluations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— ablation, budget sweep, per-specialty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§4.2 · THE NOVEL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An adaptive delivery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2714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900" b="0" i="0">
                <a:solidFill>
                  <a:srgbClr val="69757F"/>
                </a:solidFill>
                <a:latin typeface="Avenir Next"/>
              </a:rPr>
              <a:t>Once generation is solid, learn how to present each scored recommendation — interruptive alert, passive display, or suppress — to raise appropriate uptake without adding alert burden.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83279"/>
            <a:ext cx="1063721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0" i="0">
                <a:solidFill>
                  <a:srgbClr val="28323B"/>
                </a:solidFill>
                <a:latin typeface="Avenir Next"/>
              </a:rPr>
              <a:t>Context-aware: the same recommendation surfaced differently in a busy ED vs. a low-load clinic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0" i="0">
                <a:solidFill>
                  <a:srgbClr val="28323B"/>
                </a:solidFill>
                <a:latin typeface="Avenir Next"/>
              </a:rPr>
              <a:t>Calibrated &amp; validated with a human study on real clinician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§4.3 ·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Plan &amp; target venues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377440"/>
          <a:ext cx="10637214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7443"/>
                <a:gridCol w="4641693"/>
                <a:gridCol w="3868078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69757F"/>
                          </a:solidFill>
                          <a:latin typeface="Avenir Next"/>
                        </a:rPr>
                        <a:t>PERIOD</a:t>
                      </a:r>
                    </a:p>
                  </a:txBody>
                  <a:tcPr marL="128016" marT="54864" marB="54864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69757F"/>
                          </a:solidFill>
                          <a:latin typeface="Avenir Next"/>
                        </a:rPr>
                        <a:t>MILESTONE</a:t>
                      </a:r>
                    </a:p>
                  </a:txBody>
                  <a:tcPr marL="128016" marT="54864" marB="54864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69757F"/>
                          </a:solidFill>
                          <a:latin typeface="Avenir Next"/>
                        </a:rPr>
                        <a:t>VENUE</a:t>
                      </a:r>
                    </a:p>
                  </a:txBody>
                  <a:tcPr marL="128016" marT="54864" marB="54864">
                    <a:solidFill>
                      <a:srgbClr val="FA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Avenir Next"/>
                        </a:rPr>
                        <a:t>Q1 · Sep '26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8323B"/>
                          </a:solidFill>
                          <a:latin typeface="Avenir Next"/>
                        </a:rPr>
                        <a:t>Benchmark &amp; EHR environments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8323B"/>
                          </a:solidFill>
                          <a:latin typeface="Avenir Next"/>
                        </a:rPr>
                        <a:t>NeurIPS workshop (GenAI4Health)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Avenir Next"/>
                        </a:rPr>
                        <a:t>Q2 · Nov '26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8323B"/>
                          </a:solidFill>
                          <a:latin typeface="Avenir Next"/>
                        </a:rPr>
                        <a:t>Recommender &amp; scoring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8323B"/>
                          </a:solidFill>
                          <a:latin typeface="Avenir Next"/>
                        </a:rPr>
                        <a:t>AAAI Health Intelligence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Avenir Next"/>
                        </a:rPr>
                        <a:t>Q3 · Jan '27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8323B"/>
                          </a:solidFill>
                          <a:latin typeface="Avenir Next"/>
                        </a:rPr>
                        <a:t>Delivery-interface co-design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8323B"/>
                          </a:solidFill>
                          <a:latin typeface="Avenir Next"/>
                        </a:rPr>
                        <a:t>CHI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Avenir Next"/>
                        </a:rPr>
                        <a:t>Q3 · Jan '27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8323B"/>
                          </a:solidFill>
                          <a:latin typeface="Avenir Next"/>
                        </a:rPr>
                        <a:t>Adaptive delivery policy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8323B"/>
                          </a:solidFill>
                          <a:latin typeface="Avenir Next"/>
                        </a:rPr>
                        <a:t>ICML (archival)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Avenir Next"/>
                        </a:rPr>
                        <a:t>Q4 · May '27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8323B"/>
                          </a:solidFill>
                          <a:latin typeface="Avenir Next"/>
                        </a:rPr>
                        <a:t>Full system + clinical results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8323B"/>
                          </a:solidFill>
                          <a:latin typeface="Avenir Next"/>
                        </a:rPr>
                        <a:t>Nature Medicine (archival)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4E6E8E"/>
                </a:solidFill>
                <a:latin typeface="Avenir Next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300" b="1" i="0">
                <a:solidFill>
                  <a:srgbClr val="1A1A1A"/>
                </a:solidFill>
                <a:latin typeface="Avenir Next"/>
              </a:rPr>
              <a:t>Contributions &amp; 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637215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Contributions: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the first study of the </a:t>
            </a:r>
            <a:r>
              <a:rPr sz="2000" b="0" i="1">
                <a:solidFill>
                  <a:srgbClr val="28323B"/>
                </a:solidFill>
                <a:latin typeface="Avenir Next"/>
              </a:rPr>
              <a:t>delivery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of LM clinical recommendations; reusable sequential test-ordering environments from real EHR data; a safety-grounded, multi-objective alerting layer reproducible on public data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Finding so far: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on an open 8B model, added orchestration does not buy accuracy — a single call matches the roles prompt, and the multi-agent panel is weaker at ~1.9× the compute</a:t>
            </a:r>
          </a:p>
          <a:p>
            <a:pPr marL="274638" indent="-274638">
              <a:lnSpc>
                <a:spcPct val="128000"/>
              </a:lnSpc>
              <a:spcAft>
                <a:spcPts val="1100"/>
              </a:spcAft>
              <a:buClr>
                <a:srgbClr val="4E6E8E"/>
              </a:buClr>
              <a:buFont typeface="Arial"/>
              <a:buChar char="•"/>
            </a:pPr>
            <a:r>
              <a:rPr sz="2000" b="1" i="0">
                <a:solidFill>
                  <a:srgbClr val="1A1A1A"/>
                </a:solidFill>
                <a:latin typeface="Avenir Next"/>
              </a:rPr>
              <a:t>Next:</a:t>
            </a:r>
            <a:r>
              <a:rPr sz="2000" b="0" i="0">
                <a:solidFill>
                  <a:srgbClr val="28323B"/>
                </a:solidFill>
                <a:latin typeface="Avenir Next"/>
              </a:rPr>
              <a:t> frontier models toward ~80%, then the adaptive delivery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65815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C2C8CD"/>
                </a:solidFill>
                <a:latin typeface="Avenir Next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